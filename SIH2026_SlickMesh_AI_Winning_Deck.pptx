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10B981"/>
                </a:solidFill>
              </a:defRPr>
            </a:pPr>
            <a:r>
              <a:t>SMART INDIA HACKATHON 2026</a:t>
            </a:r>
          </a:p>
          <a:p>
            <a:pPr>
              <a:spcAft>
                <a:spcPts val="2800"/>
              </a:spcAft>
              <a:defRPr sz="3000" b="1">
                <a:solidFill>
                  <a:srgbClr val="FFFFFF"/>
                </a:solidFill>
              </a:defRPr>
            </a:pPr>
            <a:r>
              <a:t>SlickMesh AI: Autonomous Satellite Oil Spill Detection</a:t>
            </a:r>
            <a:br/>
            <a:r>
              <a:t>&amp; Multi-Evidence AIS Vessel Attribution</a:t>
            </a:r>
          </a:p>
          <a:p>
            <a:pPr>
              <a:spcAft>
                <a:spcPts val="400"/>
              </a:spcAft>
              <a:defRPr sz="1300" b="1">
                <a:solidFill>
                  <a:srgbClr val="93C5FD"/>
                </a:solidFill>
              </a:defRPr>
            </a:pPr>
            <a:r>
              <a:t>•  Problem Statement ID: </a:t>
            </a:r>
            <a:r>
              <a:rPr b="0">
                <a:solidFill>
                  <a:srgbClr val="FFFFFF"/>
                </a:solidFill>
              </a:rPr>
              <a:t>SIH26143</a:t>
            </a:r>
          </a:p>
          <a:p>
            <a:pPr>
              <a:spcAft>
                <a:spcPts val="400"/>
              </a:spcAft>
              <a:defRPr sz="1300" b="1">
                <a:solidFill>
                  <a:srgbClr val="93C5FD"/>
                </a:solidFill>
              </a:defRPr>
            </a:pPr>
            <a:r>
              <a:t>•  Problem Statement Title: </a:t>
            </a:r>
            <a:r>
              <a:rPr b="0">
                <a:solidFill>
                  <a:srgbClr val="FFFFFF"/>
                </a:solidFill>
              </a:rPr>
              <a:t>Satellite Oil Spill Detection &amp; AIS-Based Vessel Attribution</a:t>
            </a:r>
          </a:p>
          <a:p>
            <a:pPr>
              <a:spcAft>
                <a:spcPts val="400"/>
              </a:spcAft>
              <a:defRPr sz="1300" b="1">
                <a:solidFill>
                  <a:srgbClr val="93C5FD"/>
                </a:solidFill>
              </a:defRPr>
            </a:pPr>
            <a:r>
              <a:t>•  Theme: </a:t>
            </a:r>
            <a:r>
              <a:rPr b="0">
                <a:solidFill>
                  <a:srgbClr val="FFFFFF"/>
                </a:solidFill>
              </a:rPr>
              <a:t>Disaster Management / Maritime Domain Awareness</a:t>
            </a:r>
          </a:p>
          <a:p>
            <a:pPr>
              <a:spcAft>
                <a:spcPts val="400"/>
              </a:spcAft>
              <a:defRPr sz="1300" b="1">
                <a:solidFill>
                  <a:srgbClr val="93C5FD"/>
                </a:solidFill>
              </a:defRPr>
            </a:pPr>
            <a:r>
              <a:t>•  PS Category: </a:t>
            </a:r>
            <a:r>
              <a:rPr b="0">
                <a:solidFill>
                  <a:srgbClr val="FFFFFF"/>
                </a:solidFill>
              </a:rPr>
              <a:t>Software</a:t>
            </a:r>
          </a:p>
          <a:p>
            <a:pPr>
              <a:spcAft>
                <a:spcPts val="400"/>
              </a:spcAft>
              <a:defRPr sz="1300" b="1">
                <a:solidFill>
                  <a:srgbClr val="93C5FD"/>
                </a:solidFill>
              </a:defRPr>
            </a:pPr>
            <a:r>
              <a:t>•  Team ID / Name: </a:t>
            </a:r>
            <a:r>
              <a:rPr b="0">
                <a:solidFill>
                  <a:srgbClr val="FFFFFF"/>
                </a:solidFill>
              </a:rPr>
              <a:t>Vibe Coders (Registered on Portal)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72A"/>
                </a:solidFill>
                <a:latin typeface="Arial"/>
              </a:defRPr>
            </a:pPr>
            <a:r>
              <a:t>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36576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2563EB"/>
                </a:solidFill>
                <a:latin typeface="Arial"/>
              </a:defRPr>
            </a:pPr>
            <a:r>
              <a:t>SIH2026 | PS: SIH26143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Arial"/>
              </a:defRPr>
            </a:pPr>
            <a:r>
              <a:t>@SIH Idea Submission - Template  |  Slide 2 of 6  |  SlickMesh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943600" cy="502920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600"/>
              </a:spcAft>
              <a:defRPr sz="1400" b="1">
                <a:solidFill>
                  <a:srgbClr val="2563EB"/>
                </a:solidFill>
              </a:defRPr>
            </a:pPr>
            <a:r>
              <a:t>❑ SlickMesh AI: Core Architecture</a:t>
            </a:r>
          </a:p>
          <a:p>
            <a:pPr>
              <a:spcAft>
                <a:spcPts val="400"/>
              </a:spcAft>
              <a:defRPr sz="1100" b="1">
                <a:solidFill>
                  <a:srgbClr val="0F172A"/>
                </a:solidFill>
              </a:defRPr>
            </a:pPr>
            <a:r>
              <a:t>• All-Weather SAR Ingestion: </a:t>
            </a:r>
            <a:r>
              <a:rPr b="0">
                <a:solidFill>
                  <a:srgbClr val="475569"/>
                </a:solidFill>
              </a:rPr>
              <a:t>Autonomous ESA Sentinel-1 C-SAR radar passes penetrate clouds and night conditions.</a:t>
            </a:r>
          </a:p>
          <a:p>
            <a:pPr>
              <a:spcAft>
                <a:spcPts val="400"/>
              </a:spcAft>
              <a:defRPr sz="1100" b="1">
                <a:solidFill>
                  <a:srgbClr val="0F172A"/>
                </a:solidFill>
              </a:defRPr>
            </a:pPr>
            <a:r>
              <a:t>• U-Net Deep Learning: </a:t>
            </a:r>
            <a:r>
              <a:rPr b="0">
                <a:solidFill>
                  <a:srgbClr val="475569"/>
                </a:solidFill>
              </a:rPr>
              <a:t>Segments slicks and illegal bilge streaks at pixel accuracy; extracts exact polygon and area.</a:t>
            </a:r>
          </a:p>
          <a:p>
            <a:pPr>
              <a:spcAft>
                <a:spcPts val="400"/>
              </a:spcAft>
              <a:defRPr sz="1100" b="1">
                <a:solidFill>
                  <a:srgbClr val="0F172A"/>
                </a:solidFill>
              </a:defRPr>
            </a:pPr>
            <a:r>
              <a:t>• Hydrodynamic Backtracking: </a:t>
            </a:r>
            <a:r>
              <a:rPr b="0">
                <a:solidFill>
                  <a:srgbClr val="475569"/>
                </a:solidFill>
              </a:rPr>
              <a:t>Reverses ocean currents + 3% windage to compute origin release corridor (T-24h).</a:t>
            </a:r>
          </a:p>
          <a:p>
            <a:pPr>
              <a:spcAft>
                <a:spcPts val="400"/>
              </a:spcAft>
              <a:defRPr sz="1100" b="1">
                <a:solidFill>
                  <a:srgbClr val="0F172A"/>
                </a:solidFill>
              </a:defRPr>
            </a:pPr>
            <a:r>
              <a:t>• Spatiotemporal AIS Matching: </a:t>
            </a:r>
            <a:r>
              <a:rPr b="0">
                <a:solidFill>
                  <a:srgbClr val="475569"/>
                </a:solidFill>
              </a:rPr>
              <a:t>Cross-references transponder tracks within origin corridor to identify suspects.</a:t>
            </a:r>
          </a:p>
          <a:p>
            <a:pPr>
              <a:spcAft>
                <a:spcPts val="400"/>
              </a:spcAft>
              <a:defRPr sz="1100" b="1">
                <a:solidFill>
                  <a:srgbClr val="0F172A"/>
                </a:solidFill>
              </a:defRPr>
            </a:pPr>
            <a:r>
              <a:t>• 7-Signal Explainable Scoring: </a:t>
            </a:r>
            <a:r>
              <a:rPr b="0">
                <a:solidFill>
                  <a:srgbClr val="475569"/>
                </a:solidFill>
              </a:rPr>
              <a:t>Evaluates CPA distance, temporal overlap, heading delta, and dark ship gaps.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300" b="1">
                <a:solidFill>
                  <a:srgbClr val="10B981"/>
                </a:solidFill>
              </a:defRPr>
            </a:pPr>
            <a:r>
              <a:t>❑ Innovation &amp; Uniqueness</a:t>
            </a:r>
          </a:p>
          <a:p>
            <a:pPr>
              <a:spcAft>
                <a:spcPts val="200"/>
              </a:spcAft>
              <a:defRPr sz="1050">
                <a:solidFill>
                  <a:srgbClr val="475569"/>
                </a:solidFill>
              </a:defRPr>
            </a:pPr>
            <a:r>
              <a:t>• Hybrid Intelligence: Deep Learning Vision + Lagrangian Drift + Multi-Criteria AIS Fusion.</a:t>
            </a:r>
          </a:p>
          <a:p>
            <a:pPr>
              <a:spcAft>
                <a:spcPts val="200"/>
              </a:spcAft>
              <a:defRPr sz="1050">
                <a:solidFill>
                  <a:srgbClr val="475569"/>
                </a:solidFill>
              </a:defRPr>
            </a:pPr>
            <a:r>
              <a:t>• Zero-Dependency Contracts: Loose JSON coupling across modules (spill, candidates, attribution).</a:t>
            </a:r>
          </a:p>
          <a:p>
            <a:pPr>
              <a:spcAft>
                <a:spcPts val="200"/>
              </a:spcAft>
              <a:defRPr sz="1050">
                <a:solidFill>
                  <a:srgbClr val="475569"/>
                </a:solidFill>
              </a:defRPr>
            </a:pPr>
            <a:r>
              <a:t>• Dark-Ship Transponder Gap Detection: Automatically flags deliberate AIS shutoffs near origin.</a:t>
            </a:r>
          </a:p>
          <a:p>
            <a:pPr>
              <a:spcAft>
                <a:spcPts val="200"/>
              </a:spcAft>
              <a:defRPr sz="1050">
                <a:solidFill>
                  <a:srgbClr val="475569"/>
                </a:solidFill>
              </a:defRPr>
            </a:pPr>
            <a:r>
              <a:t>• High-Speed Execution: Attribution matrix executes across 50 vessels in &lt; 15 milliseconds.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188720"/>
            <a:ext cx="4572000" cy="502920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2563EB"/>
                </a:solidFill>
              </a:defRPr>
            </a:pPr>
            <a:r>
              <a:t>❑ End-to-End System Pipeline</a:t>
            </a:r>
          </a:p>
          <a:p>
            <a:pPr>
              <a:defRPr sz="1150" b="1">
                <a:solidFill>
                  <a:srgbClr val="0F172A"/>
                </a:solidFill>
              </a:defRPr>
            </a:pPr>
            <a:r>
              <a:t>▶  1. Satellite Ingestion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</a:defRPr>
            </a:pPr>
            <a:r>
              <a:t>    Sentinel-1 C-SAR VV/VH Imagery</a:t>
            </a:r>
          </a:p>
          <a:p>
            <a:pPr>
              <a:defRPr sz="1150" b="1">
                <a:solidFill>
                  <a:srgbClr val="0F172A"/>
                </a:solidFill>
              </a:defRPr>
            </a:pPr>
            <a:r>
              <a:t>▶  2. AI Segmentation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</a:defRPr>
            </a:pPr>
            <a:r>
              <a:t>    PyTorch U-Net -&gt; GeoJSON Slick Mask</a:t>
            </a:r>
          </a:p>
          <a:p>
            <a:pPr>
              <a:defRPr sz="1150" b="1">
                <a:solidFill>
                  <a:srgbClr val="0F172A"/>
                </a:solidFill>
              </a:defRPr>
            </a:pPr>
            <a:r>
              <a:t>▶  3. Hydrodynamic Drift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</a:defRPr>
            </a:pPr>
            <a:r>
              <a:t>    Copernicus Currents + 3% Windage Solver</a:t>
            </a:r>
          </a:p>
          <a:p>
            <a:pPr>
              <a:defRPr sz="1150" b="1">
                <a:solidFill>
                  <a:srgbClr val="0F172A"/>
                </a:solidFill>
              </a:defRPr>
            </a:pPr>
            <a:r>
              <a:t>▶  4. Trajectory Matching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</a:defRPr>
            </a:pPr>
            <a:r>
              <a:t>    GeoPandas &amp; MovingPandas AIS Corroboration</a:t>
            </a:r>
          </a:p>
          <a:p>
            <a:pPr>
              <a:defRPr sz="1150" b="1">
                <a:solidFill>
                  <a:srgbClr val="0F172A"/>
                </a:solidFill>
              </a:defRPr>
            </a:pPr>
            <a:r>
              <a:t>▶  5. Attribution Engine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</a:defRPr>
            </a:pPr>
            <a:r>
              <a:t>    7-Factor Scoring &amp; Bayesian Ranking</a:t>
            </a:r>
          </a:p>
          <a:p>
            <a:pPr>
              <a:defRPr sz="1150" b="1">
                <a:solidFill>
                  <a:srgbClr val="0F172A"/>
                </a:solidFill>
              </a:defRPr>
            </a:pPr>
            <a:r>
              <a:t>▶  6. Triage Dashboard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</a:defRPr>
            </a:pPr>
            <a:r>
              <a:t>    FastAPI + Leaflet.js Interactive Command 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72A"/>
                </a:solidFill>
                <a:latin typeface="Arial"/>
              </a:defRPr>
            </a:pPr>
            <a:r>
              <a:t>TECHNICAL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36576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2563EB"/>
                </a:solidFill>
                <a:latin typeface="Arial"/>
              </a:defRPr>
            </a:pPr>
            <a:r>
              <a:t>SIH2026 | PS: SIH26143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Arial"/>
              </a:defRPr>
            </a:pPr>
            <a:r>
              <a:t>@SIH Idea Submission - Template  |  Slide 3 of 6  |  SlickMesh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10698480" cy="10972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250" b="1">
                <a:solidFill>
                  <a:srgbClr val="2563EB"/>
                </a:solidFill>
              </a:defRPr>
            </a:pPr>
            <a:r>
              <a:t>Phase 1: Satellite Detection  |  Computer Vision &amp; SAR</a:t>
            </a:r>
          </a:p>
          <a:p>
            <a:pPr>
              <a:defRPr sz="1000" b="1">
                <a:solidFill>
                  <a:srgbClr val="0F172A"/>
                </a:solidFill>
              </a:defRPr>
            </a:pPr>
            <a:r>
              <a:t>Tech Stack: PyTorch, U-Net, DeepLabV3+, Rasterio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Ingests Sentinel-1 C-SAR radar tiles. Segments slick geometry, surface area (km²), and spatial centroid. Outputs Contract B (spill.json).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23160"/>
            <a:ext cx="10698480" cy="10972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250" b="1">
                <a:solidFill>
                  <a:srgbClr val="10B981"/>
                </a:solidFill>
              </a:defRPr>
            </a:pPr>
            <a:r>
              <a:t>Phase 2: AIS &amp; Backtracking  |  Hydrodynamics &amp; GIS</a:t>
            </a:r>
          </a:p>
          <a:p>
            <a:pPr>
              <a:defRPr sz="1000" b="1">
                <a:solidFill>
                  <a:srgbClr val="0F172A"/>
                </a:solidFill>
              </a:defRPr>
            </a:pPr>
            <a:r>
              <a:t>Tech Stack: GeoPandas, Shapely, PyProj, MovingPandas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Backtracks drift vector (V_drift = V_curr + 0.03*V_wind). Constructs adaptive buffered origin corridor. Pulls AIS ship tracks. Outputs Contract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657600"/>
            <a:ext cx="10698480" cy="10972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250" b="1">
                <a:solidFill>
                  <a:srgbClr val="9333EA"/>
                </a:solidFill>
              </a:defRPr>
            </a:pPr>
            <a:r>
              <a:t>Phase 3: Attribution Engine  |  Forensic Scoring &amp; XAI</a:t>
            </a:r>
          </a:p>
          <a:p>
            <a:pPr>
              <a:defRPr sz="1000" b="1">
                <a:solidFill>
                  <a:srgbClr val="0F172A"/>
                </a:solidFill>
              </a:defRPr>
            </a:pPr>
            <a:r>
              <a:t>Tech Stack: Python, NumPy, Pydantic, Pytest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Evaluates 7 evidence sub-scores (CPA distance, time delta, heading match, AIS gaps). Computes confidence (0-100%) and reasons. Outputs Contract 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892040"/>
            <a:ext cx="10698480" cy="10972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250" b="1">
                <a:solidFill>
                  <a:srgbClr val="EA580C"/>
                </a:solidFill>
              </a:defRPr>
            </a:pPr>
            <a:r>
              <a:t>Phase 4: Tactical Dashboard  |  Geospatial Intelligence</a:t>
            </a:r>
          </a:p>
          <a:p>
            <a:pPr>
              <a:defRPr sz="1000" b="1">
                <a:solidFill>
                  <a:srgbClr val="0F172A"/>
                </a:solidFill>
              </a:defRPr>
            </a:pPr>
            <a:r>
              <a:t>Tech Stack: FastAPI, Uvicorn, Leaflet.js, OpenStreetMap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Renders interactive cartographic GIS map with EEZ satellite swaths, detected slick contours, candidate tracks, and suspect dossiers.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72A"/>
                </a:solidFill>
                <a:latin typeface="Arial"/>
              </a:defRPr>
            </a:pPr>
            <a:r>
              <a:t>FEASIBILITY AND VIABILITY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36576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2563EB"/>
                </a:solidFill>
                <a:latin typeface="Arial"/>
              </a:defRPr>
            </a:pPr>
            <a:r>
              <a:t>SIH2026 | PS: SIH26143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Arial"/>
              </a:defRPr>
            </a:pPr>
            <a:r>
              <a:t>@SIH Idea Submission - Template  |  Slide 4 of 6  |  SlickMesh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12080" cy="2468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/>
          <a:lstStyle/>
          <a:p>
            <a:pPr algn="ctr">
              <a:spcAft>
                <a:spcPts val="400"/>
              </a:spcAft>
              <a:defRPr sz="1200" b="1">
                <a:solidFill>
                  <a:srgbClr val="2563EB"/>
                </a:solidFill>
              </a:defRPr>
            </a:pPr>
            <a:r>
              <a:t>1. FEASIBILITY (Technical Readiness)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• Zero-Cost Open Data: Ingests free Copernicus Sentinel-1, Open-Meteo, &amp; GFW streams.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• Lightweight Execution: U-Net &amp; NumPy attribution execute on standard cloud or edge servers.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• Loose Data Contracts: Independent testing &amp; verification via standardized JSON schemas.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• Automated Fallback: Cascades to cached reanalysis data during live stream downtime.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188720"/>
            <a:ext cx="5212080" cy="2468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/>
          <a:lstStyle/>
          <a:p>
            <a:pPr algn="ctr">
              <a:spcAft>
                <a:spcPts val="400"/>
              </a:spcAft>
              <a:defRPr sz="1200" b="1">
                <a:solidFill>
                  <a:srgbClr val="10B981"/>
                </a:solidFill>
              </a:defRPr>
            </a:pPr>
            <a:r>
              <a:t>2. VIABILITY (Operational Scalability)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• Coastline Scalability: Protects all 7,516 km of Indian coastline &amp; high-density tanker routes.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• 100x Cost Reduction: Replaces blind aerial reconnaissance flights with precision suspect targets.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• Turnkey Deployment: Seamlessly plugs into Indian Coast Guard MRCC and DG Shipping systems.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• 24/7 All-Weather Operation: Continuous radar monitoring through monsoon clouds &amp; darkness.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5212080" cy="2468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/>
          <a:lstStyle/>
          <a:p>
            <a:pPr algn="ctr">
              <a:spcAft>
                <a:spcPts val="400"/>
              </a:spcAft>
              <a:defRPr sz="1200" b="1">
                <a:solidFill>
                  <a:srgbClr val="F43F5E"/>
                </a:solidFill>
              </a:defRPr>
            </a:pPr>
            <a:r>
              <a:t>3. CHALLENGES &amp; RISKS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• SAR Look-Alikes: Natural algae blooms or low-wind calm seas mimicking oil slicks.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• Dark Ships: Rogue polluters turning off AIS transponders during illegal bilge dumping.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• Data Latency: Occasional delay in fresh satellite tile processing at ground stations.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• Complex Currents: High tidal variability in narrow gulfs (Khambhat, Kutch).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840480"/>
            <a:ext cx="5212080" cy="2468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/>
          <a:lstStyle/>
          <a:p>
            <a:pPr algn="ctr">
              <a:spcAft>
                <a:spcPts val="400"/>
              </a:spcAft>
              <a:defRPr sz="1200" b="1">
                <a:solidFill>
                  <a:srgbClr val="9333EA"/>
                </a:solidFill>
              </a:defRPr>
            </a:pPr>
            <a:r>
              <a:t>4. MITIGATION STRATEGIES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• Multi-Signal Cross-Check: Slick heading alignment &amp; vessel cruising speed weed out false slicks.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• AIS Gap Penalty: Automatic detection of transponder blackouts assigns maximum suspicion (1.0).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• Adaptive Corridors: Buffered polygons (5-20 km) absorb turbulent current diffusion errors.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• Explainable AI (XAI): Transparent mathematical breakdown ensures defensible court evidence.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72A"/>
                </a:solidFill>
                <a:latin typeface="Arial"/>
              </a:defRPr>
            </a:pPr>
            <a:r>
              <a:t>IMPACT AND BENEFITS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36576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2563EB"/>
                </a:solidFill>
                <a:latin typeface="Arial"/>
              </a:defRPr>
            </a:pPr>
            <a:r>
              <a:t>SIH2026 | PS: SIH26143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Arial"/>
              </a:defRPr>
            </a:pPr>
            <a:r>
              <a:t>@SIH Idea Submission - Template  |  Slide 5 of 6  |  SlickMesh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12080" cy="502920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2563EB"/>
                </a:solidFill>
              </a:defRPr>
            </a:pPr>
            <a:r>
              <a:t>❑ KEY STAKEHOLDERS &amp; BENEFICIARIES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01. Indian Coast Guard (ICG)</a:t>
            </a:r>
          </a:p>
          <a:p>
            <a:pPr>
              <a:spcAft>
                <a:spcPts val="600"/>
              </a:spcAft>
              <a:defRPr sz="950">
                <a:solidFill>
                  <a:srgbClr val="475569"/>
                </a:solidFill>
              </a:defRPr>
            </a:pPr>
            <a:r>
              <a:t>Eliminates manual radar interpretation; provides automated 24/7 alert triage within seconds of satellite pass.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02. Port State Control (PSC)</a:t>
            </a:r>
          </a:p>
          <a:p>
            <a:pPr>
              <a:spcAft>
                <a:spcPts val="600"/>
              </a:spcAft>
              <a:defRPr sz="950">
                <a:solidFill>
                  <a:srgbClr val="475569"/>
                </a:solidFill>
              </a:defRPr>
            </a:pPr>
            <a:r>
              <a:t>Equips maritime inspectors with transparent mathematical dossiers to board and detain polluters at port.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03. Marine Ecosystems &amp; Fisheries</a:t>
            </a:r>
          </a:p>
          <a:p>
            <a:pPr>
              <a:spcAft>
                <a:spcPts val="600"/>
              </a:spcAft>
              <a:defRPr sz="950">
                <a:solidFill>
                  <a:srgbClr val="475569"/>
                </a:solidFill>
              </a:defRPr>
            </a:pPr>
            <a:r>
              <a:t>Protects fragile coastal mangroves, coral reefs, and fishing livelihoods from toxic hydrocarbon damage.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04. National Maritime Security</a:t>
            </a:r>
          </a:p>
          <a:p>
            <a:pPr>
              <a:spcAft>
                <a:spcPts val="600"/>
              </a:spcAft>
              <a:defRPr sz="950">
                <a:solidFill>
                  <a:srgbClr val="475569"/>
                </a:solidFill>
              </a:defRPr>
            </a:pPr>
            <a:r>
              <a:t>Establishes sovereign Maritime Domain Awareness (MDA) across Indian EEZ energy arteries (Hormuz-Mumbai).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188720"/>
            <a:ext cx="5212080" cy="5029200"/>
          </a:xfrm>
          <a:prstGeom prst="roundRect">
            <a:avLst/>
          </a:prstGeom>
          <a:solidFill>
            <a:srgbClr val="F1F5F9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10B981"/>
                </a:solidFill>
              </a:defRPr>
            </a:pPr>
            <a:r>
              <a:t>❑ QUANTIFIABLE STRATEGIC IMPACTS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✔  90% Faster Incident Triage</a:t>
            </a:r>
          </a:p>
          <a:p>
            <a:pPr>
              <a:spcAft>
                <a:spcPts val="600"/>
              </a:spcAft>
              <a:defRPr sz="950">
                <a:solidFill>
                  <a:srgbClr val="475569"/>
                </a:solidFill>
              </a:defRPr>
            </a:pPr>
            <a:r>
              <a:t>Drastically compresses the delay between satellite observation, drift backtracking, and patrol dispatch.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✔  100x Operational Cost Savings</a:t>
            </a:r>
          </a:p>
          <a:p>
            <a:pPr>
              <a:spcAft>
                <a:spcPts val="600"/>
              </a:spcAft>
              <a:defRPr sz="950">
                <a:solidFill>
                  <a:srgbClr val="475569"/>
                </a:solidFill>
              </a:defRPr>
            </a:pPr>
            <a:r>
              <a:t>Eliminates expensive, random Dornier aircraft flight hours by deploying assets to high-confidence targets.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✔  Active MARPOL Deterrence</a:t>
            </a:r>
          </a:p>
          <a:p>
            <a:pPr>
              <a:spcAft>
                <a:spcPts val="600"/>
              </a:spcAft>
              <a:defRPr sz="950">
                <a:solidFill>
                  <a:srgbClr val="475569"/>
                </a:solidFill>
              </a:defRPr>
            </a:pPr>
            <a:r>
              <a:t>Deters illegal operational bilge dumping (magic pipes) by proving vessels cannot hide in open waters.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✔  Legally Defensible Evidence</a:t>
            </a:r>
          </a:p>
          <a:p>
            <a:pPr>
              <a:spcAft>
                <a:spcPts val="600"/>
              </a:spcAft>
              <a:defRPr sz="950">
                <a:solidFill>
                  <a:srgbClr val="475569"/>
                </a:solidFill>
              </a:defRPr>
            </a:pPr>
            <a:r>
              <a:t>Provides deterministic, auditable multi-evidence signal breakdowns accepted under maritime law.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72A"/>
                </a:solidFill>
                <a:latin typeface="Arial"/>
              </a:defRPr>
            </a:pPr>
            <a:r>
              <a:t>RESEARCH AND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36576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2563EB"/>
                </a:solidFill>
                <a:latin typeface="Arial"/>
              </a:defRPr>
            </a:pPr>
            <a:r>
              <a:t>SIH2026 | PS: SIH26143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Arial"/>
              </a:defRPr>
            </a:pPr>
            <a:r>
              <a:t>@SIH Idea Submission - Template  |  Slide 6 of 6  |  SlickMesh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943600" cy="502920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2563EB"/>
                </a:solidFill>
              </a:defRPr>
            </a:pPr>
            <a:r>
              <a:t>❑ Academic &amp; Operational Benchmarks</a:t>
            </a:r>
          </a:p>
          <a:p>
            <a:pPr>
              <a:spcAft>
                <a:spcPts val="400"/>
              </a:spcAft>
              <a:defRPr sz="1050" b="1">
                <a:solidFill>
                  <a:srgbClr val="0F172A"/>
                </a:solidFill>
              </a:defRPr>
            </a:pPr>
            <a:r>
              <a:t>• EMSA CleanSeaNet &amp; SkyTruth Cerulean: </a:t>
            </a:r>
            <a:r>
              <a:rPr b="0">
                <a:solidFill>
                  <a:srgbClr val="475569"/>
                </a:solidFill>
              </a:rPr>
              <a:t>Operational satellite SAR oil spill monitoring and vessel corroboration frameworks.</a:t>
            </a:r>
          </a:p>
          <a:p>
            <a:pPr>
              <a:spcAft>
                <a:spcPts val="400"/>
              </a:spcAft>
              <a:defRPr sz="1050" b="1">
                <a:solidFill>
                  <a:srgbClr val="0F172A"/>
                </a:solidFill>
              </a:defRPr>
            </a:pPr>
            <a:r>
              <a:t>• NOAA GNOME Technical Manual: </a:t>
            </a:r>
            <a:r>
              <a:rPr b="0">
                <a:solidFill>
                  <a:srgbClr val="475569"/>
                </a:solidFill>
              </a:rPr>
              <a:t>Physics-based surface transport model with 3% empirical windage factor and current integration.</a:t>
            </a:r>
          </a:p>
          <a:p>
            <a:pPr>
              <a:spcAft>
                <a:spcPts val="400"/>
              </a:spcAft>
              <a:defRPr sz="1050" b="1">
                <a:solidFill>
                  <a:srgbClr val="0F172A"/>
                </a:solidFill>
              </a:defRPr>
            </a:pPr>
            <a:r>
              <a:t>• Deep-SAR Benchmark Studies: </a:t>
            </a:r>
            <a:r>
              <a:rPr b="0">
                <a:solidFill>
                  <a:srgbClr val="475569"/>
                </a:solidFill>
              </a:rPr>
              <a:t>IEEE Transactions on Geoscience &amp; Remote Sensing (TGRS) for deep learning SAR slick segmentation.</a:t>
            </a:r>
          </a:p>
          <a:p>
            <a:pPr>
              <a:spcAft>
                <a:spcPts val="400"/>
              </a:spcAft>
              <a:defRPr sz="1050" b="1">
                <a:solidFill>
                  <a:srgbClr val="0F172A"/>
                </a:solidFill>
              </a:defRPr>
            </a:pPr>
            <a:r>
              <a:t>• UNCLOS &amp; IMO MARPOL Annex I: </a:t>
            </a:r>
            <a:r>
              <a:rPr b="0">
                <a:solidFill>
                  <a:srgbClr val="475569"/>
                </a:solidFill>
              </a:rPr>
              <a:t>International maritime environmental conventions governing vessel-source pollution and port inspection.</a:t>
            </a:r>
          </a:p>
          <a:p>
            <a:pPr>
              <a:spcAft>
                <a:spcPts val="400"/>
              </a:spcAft>
              <a:defRPr sz="1050" b="1">
                <a:solidFill>
                  <a:srgbClr val="0F172A"/>
                </a:solidFill>
              </a:defRPr>
            </a:pPr>
            <a:r>
              <a:t>• Copernicus Marine Service &amp; INCOIS: </a:t>
            </a:r>
            <a:r>
              <a:rPr b="0">
                <a:solidFill>
                  <a:srgbClr val="475569"/>
                </a:solidFill>
              </a:rPr>
              <a:t>Regional ocean hydrodynamic models for the Arabian Sea and Bay of Bengal maritime basins.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188720"/>
            <a:ext cx="4572000" cy="502920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spcAft>
                <a:spcPts val="1000"/>
              </a:spcAft>
              <a:defRPr sz="1300" b="1">
                <a:solidFill>
                  <a:srgbClr val="10B981"/>
                </a:solidFill>
              </a:defRPr>
            </a:pPr>
            <a:r>
              <a:t>❑ Project Links &amp; Data Providers</a:t>
            </a:r>
          </a:p>
          <a:p>
            <a:pPr>
              <a:defRPr sz="1150" b="1">
                <a:solidFill>
                  <a:srgbClr val="2563EB"/>
                </a:solidFill>
              </a:defRPr>
            </a:pPr>
            <a:r>
              <a:t>▶  GitHub Repository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</a:defRPr>
            </a:pPr>
            <a:r>
              <a:t>    https://github.com/JitaanRathod/SlickMesh-AI</a:t>
            </a:r>
          </a:p>
          <a:p>
            <a:pPr>
              <a:defRPr sz="1150" b="1">
                <a:solidFill>
                  <a:srgbClr val="F43F5E"/>
                </a:solidFill>
              </a:defRPr>
            </a:pPr>
            <a:r>
              <a:t>▶  YouTube Video Demo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</a:defRPr>
            </a:pPr>
            <a:r>
              <a:t>    https://youtube.com/watch?v=sih26143-demo</a:t>
            </a:r>
          </a:p>
          <a:p>
            <a:pPr>
              <a:defRPr sz="1150" b="1">
                <a:solidFill>
                  <a:srgbClr val="10B981"/>
                </a:solidFill>
              </a:defRPr>
            </a:pPr>
            <a:r>
              <a:t>▶  Live Command Dashboard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</a:defRPr>
            </a:pPr>
            <a:r>
              <a:t>    http://127.0.0.1:8000 (FastAPI + Leaflet)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200" b="1">
                <a:solidFill>
                  <a:srgbClr val="0F172A"/>
                </a:solidFill>
              </a:defRPr>
            </a:pPr>
            <a:r>
              <a:t>❑ Verified Data Sources Ingested</a:t>
            </a:r>
          </a:p>
          <a:p>
            <a:pPr>
              <a:spcAft>
                <a:spcPts val="200"/>
              </a:spcAft>
              <a:defRPr sz="1000">
                <a:solidFill>
                  <a:srgbClr val="475569"/>
                </a:solidFill>
              </a:defRPr>
            </a:pPr>
            <a:r>
              <a:t>• ESA Copernicus Sentinel-1 C-SAR (VV/VH)</a:t>
            </a:r>
          </a:p>
          <a:p>
            <a:pPr>
              <a:spcAft>
                <a:spcPts val="200"/>
              </a:spcAft>
              <a:defRPr sz="1000">
                <a:solidFill>
                  <a:srgbClr val="475569"/>
                </a:solidFill>
              </a:defRPr>
            </a:pPr>
            <a:r>
              <a:t>• Open-Meteo ECMWF Global Wind Vectors</a:t>
            </a:r>
          </a:p>
          <a:p>
            <a:pPr>
              <a:spcAft>
                <a:spcPts val="200"/>
              </a:spcAft>
              <a:defRPr sz="1000">
                <a:solidFill>
                  <a:srgbClr val="475569"/>
                </a:solidFill>
              </a:defRPr>
            </a:pPr>
            <a:r>
              <a:t>• Copernicus Marine Service Ocean Currents</a:t>
            </a:r>
          </a:p>
          <a:p>
            <a:pPr>
              <a:spcAft>
                <a:spcPts val="200"/>
              </a:spcAft>
              <a:defRPr sz="1000">
                <a:solidFill>
                  <a:srgbClr val="475569"/>
                </a:solidFill>
              </a:defRPr>
            </a:pPr>
            <a:r>
              <a:t>• AISStream.io Real-Time WebSocket Feeds</a:t>
            </a:r>
          </a:p>
          <a:p>
            <a:pPr>
              <a:spcAft>
                <a:spcPts val="200"/>
              </a:spcAft>
              <a:defRPr sz="1000">
                <a:solidFill>
                  <a:srgbClr val="475569"/>
                </a:solidFill>
              </a:defRPr>
            </a:pPr>
            <a:r>
              <a:t>• Global Fishing Watch (GFW) Maritime Archive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